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63550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91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658368" y="6355080"/>
            <a:ext cx="10012680" cy="0"/>
          </a:xfrm>
          <a:prstGeom prst="line">
            <a:avLst/>
          </a:prstGeom>
          <a:noFill/>
          <a:ln w="7620">
            <a:solidFill>
              <a:srgbClr val="CDBEAE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60350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5E3E"/>
                </a:solidFill>
              </a:rPr>
              <a:t>PREGUNTA · FÓRMULA · COMPRENSIÓN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6309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espejo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frente a espejo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86384" y="2962656"/>
            <a:ext cx="2468880" cy="0"/>
          </a:xfrm>
          <a:prstGeom prst="line">
            <a:avLst/>
          </a:prstGeom>
          <a:noFill/>
          <a:ln w="27940">
            <a:solidFill>
              <a:srgbClr val="B75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3236976"/>
            <a:ext cx="5715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A5E66"/>
                </a:solidFill>
              </a:rPr>
              <a:t>Maqueta visual de una conversación sobre intención, formalización y lectura metacognitiva.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 rot="21300000">
            <a:off x="7406640" y="1234440"/>
            <a:ext cx="1051560" cy="4023360"/>
          </a:xfrm>
          <a:prstGeom prst="rect">
            <a:avLst/>
          </a:prstGeom>
          <a:solidFill>
            <a:srgbClr val="FFFFFF">
              <a:alpha val="68000"/>
            </a:srgbClr>
          </a:solidFill>
          <a:ln w="20320">
            <a:solidFill>
              <a:srgbClr val="2F6F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300000">
            <a:off x="9372600" y="1234440"/>
            <a:ext cx="1051560" cy="4023360"/>
          </a:xfrm>
          <a:prstGeom prst="rect">
            <a:avLst/>
          </a:prstGeom>
          <a:solidFill>
            <a:srgbClr val="FFFFFF">
              <a:alpha val="68000"/>
            </a:srgbClr>
          </a:solidFill>
          <a:ln w="20320">
            <a:solidFill>
              <a:srgbClr val="B75E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02752" y="2331720"/>
            <a:ext cx="1188720" cy="0"/>
          </a:xfrm>
          <a:prstGeom prst="line">
            <a:avLst/>
          </a:prstGeom>
          <a:noFill/>
          <a:ln w="13970">
            <a:solidFill>
              <a:srgbClr val="1E293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436608" y="3977640"/>
            <a:ext cx="-1207008" cy="0"/>
          </a:xfrm>
          <a:prstGeom prst="line">
            <a:avLst/>
          </a:prstGeom>
          <a:noFill/>
          <a:ln w="13970">
            <a:solidFill>
              <a:srgbClr val="1E293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406640" y="551383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Rₙ₊₁ = F(Rₙ)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63550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91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658368" y="6355080"/>
            <a:ext cx="10012680" cy="0"/>
          </a:xfrm>
          <a:prstGeom prst="line">
            <a:avLst/>
          </a:prstGeom>
          <a:noFill/>
          <a:ln w="7620">
            <a:solidFill>
              <a:srgbClr val="CDBEAE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47548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75E3E"/>
                </a:solidFill>
              </a:rPr>
              <a:t>CAPA UNO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94944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pregunta original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13232" y="1600200"/>
            <a:ext cx="544068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i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“¿Cómo traducirías esta pregunta a una fórmula matemática para entender lo que te estoy preguntando?”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86384" y="3063240"/>
            <a:ext cx="54406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A5E66"/>
                </a:solidFill>
              </a:rPr>
              <a:t>No pide solo una respuesta. Pide representar el mecanismo de comprensión.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995160" y="1325880"/>
            <a:ext cx="416052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6F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 = f(P, C, O)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46520" y="2743200"/>
            <a:ext cx="1508760" cy="914400"/>
          </a:xfrm>
          <a:prstGeom prst="rect">
            <a:avLst/>
          </a:prstGeom>
          <a:solidFill>
            <a:srgbClr val="FDF9F3"/>
          </a:solidFill>
          <a:ln w="13970">
            <a:solidFill>
              <a:srgbClr val="CDBEA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Pregunta natural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0" y="2743200"/>
            <a:ext cx="1645920" cy="914400"/>
          </a:xfrm>
          <a:prstGeom prst="rect">
            <a:avLst/>
          </a:prstGeom>
          <a:solidFill>
            <a:srgbClr val="FDF9F3"/>
          </a:solidFill>
          <a:ln w="13970">
            <a:solidFill>
              <a:srgbClr val="CDBEA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Contexto disponible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49840" y="2743200"/>
            <a:ext cx="1508760" cy="914400"/>
          </a:xfrm>
          <a:prstGeom prst="rect">
            <a:avLst/>
          </a:prstGeom>
          <a:solidFill>
            <a:srgbClr val="FDF9F3"/>
          </a:solidFill>
          <a:ln w="13970">
            <a:solidFill>
              <a:srgbClr val="CDBEA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Objetivo del hablante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05472" y="3657600"/>
            <a:ext cx="1005840" cy="713232"/>
          </a:xfrm>
          <a:prstGeom prst="line">
            <a:avLst/>
          </a:prstGeom>
          <a:noFill/>
          <a:ln w="15240">
            <a:solidFill>
              <a:srgbClr val="CDBEA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52560" y="3657600"/>
            <a:ext cx="0" cy="658368"/>
          </a:xfrm>
          <a:prstGeom prst="line">
            <a:avLst/>
          </a:prstGeom>
          <a:noFill/>
          <a:ln w="15240">
            <a:solidFill>
              <a:srgbClr val="CDBEA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908792" y="3657600"/>
            <a:ext cx="-1051560" cy="713232"/>
          </a:xfrm>
          <a:prstGeom prst="line">
            <a:avLst/>
          </a:prstGeom>
          <a:noFill/>
          <a:ln w="15240">
            <a:solidFill>
              <a:srgbClr val="CDBEAE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092440" y="4370832"/>
            <a:ext cx="1920240" cy="914400"/>
          </a:xfrm>
          <a:prstGeom prst="rect">
            <a:avLst/>
          </a:prstGeom>
          <a:solidFill>
            <a:srgbClr val="EFE4D8"/>
          </a:solidFill>
          <a:ln w="13970">
            <a:solidFill>
              <a:srgbClr val="CDBEA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75E3E"/>
                </a:solidFill>
              </a:rPr>
              <a:t>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B75E3E"/>
                </a:solidFill>
              </a:rPr>
              <a:t>Intención real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63550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91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658368" y="6355080"/>
            <a:ext cx="10012680" cy="0"/>
          </a:xfrm>
          <a:prstGeom prst="line">
            <a:avLst/>
          </a:prstGeom>
          <a:noFill/>
          <a:ln w="7620">
            <a:solidFill>
              <a:srgbClr val="CDBEAE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47548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75E3E"/>
                </a:solidFill>
              </a:rPr>
              <a:t>CAPA DOS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94944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formalización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1481328"/>
            <a:ext cx="10698480" cy="804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M* = arg minₘ D(Significado(P), Significado(M))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011680" y="248716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E66"/>
                </a:solidFill>
              </a:rPr>
              <a:t>Encontrar la fórmula que conserva el significado con la menor pérdida posible.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80160" y="3959352"/>
            <a:ext cx="1463040" cy="0"/>
          </a:xfrm>
          <a:prstGeom prst="line">
            <a:avLst/>
          </a:prstGeom>
          <a:noFill/>
          <a:ln w="15875">
            <a:solidFill>
              <a:srgbClr val="CDBEA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023360" y="3959352"/>
            <a:ext cx="1463040" cy="0"/>
          </a:xfrm>
          <a:prstGeom prst="line">
            <a:avLst/>
          </a:prstGeom>
          <a:noFill/>
          <a:ln w="15875">
            <a:solidFill>
              <a:srgbClr val="CDBEA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66560" y="3959352"/>
            <a:ext cx="1463040" cy="0"/>
          </a:xfrm>
          <a:prstGeom prst="line">
            <a:avLst/>
          </a:prstGeom>
          <a:noFill/>
          <a:ln w="15875">
            <a:solidFill>
              <a:srgbClr val="CDBEA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509760" y="3959352"/>
            <a:ext cx="1005840" cy="0"/>
          </a:xfrm>
          <a:prstGeom prst="line">
            <a:avLst/>
          </a:prstGeom>
          <a:noFill/>
          <a:ln w="15875">
            <a:solidFill>
              <a:srgbClr val="CDBEAE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13232" y="3456432"/>
            <a:ext cx="1234440" cy="987552"/>
          </a:xfrm>
          <a:prstGeom prst="rect">
            <a:avLst/>
          </a:prstGeom>
          <a:solidFill>
            <a:srgbClr val="FDF9F3"/>
          </a:solidFill>
          <a:ln w="13970">
            <a:solidFill>
              <a:srgbClr val="CDBEA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frase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88920" y="3456432"/>
            <a:ext cx="1298448" cy="987552"/>
          </a:xfrm>
          <a:prstGeom prst="rect">
            <a:avLst/>
          </a:prstGeom>
          <a:solidFill>
            <a:srgbClr val="FDF9F3"/>
          </a:solidFill>
          <a:ln w="13970">
            <a:solidFill>
              <a:srgbClr val="CDBEA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I(P)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intención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04688" y="3456432"/>
            <a:ext cx="1298448" cy="987552"/>
          </a:xfrm>
          <a:prstGeom prst="rect">
            <a:avLst/>
          </a:prstGeom>
          <a:solidFill>
            <a:srgbClr val="FDF9F3"/>
          </a:solidFill>
          <a:ln w="13970">
            <a:solidFill>
              <a:srgbClr val="CDBEA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M(I)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fórmula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0" y="3456432"/>
            <a:ext cx="1298448" cy="987552"/>
          </a:xfrm>
          <a:prstGeom prst="rect">
            <a:avLst/>
          </a:prstGeom>
          <a:solidFill>
            <a:srgbClr val="FDF9F3"/>
          </a:solidFill>
          <a:ln w="13970">
            <a:solidFill>
              <a:srgbClr val="CDBEA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pérdida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259568" y="3456432"/>
            <a:ext cx="1389888" cy="987552"/>
          </a:xfrm>
          <a:prstGeom prst="rect">
            <a:avLst/>
          </a:prstGeom>
          <a:solidFill>
            <a:srgbClr val="EFE4D8"/>
          </a:solidFill>
          <a:ln w="13970">
            <a:solidFill>
              <a:srgbClr val="CDBEA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75E3E"/>
                </a:solidFill>
              </a:rPr>
              <a:t>M*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B75E3E"/>
                </a:solidFill>
              </a:rPr>
              <a:t>mejor forma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63550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91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658368" y="6355080"/>
            <a:ext cx="10012680" cy="0"/>
          </a:xfrm>
          <a:prstGeom prst="line">
            <a:avLst/>
          </a:prstGeom>
          <a:noFill/>
          <a:ln w="7620">
            <a:solidFill>
              <a:srgbClr val="CDBEAE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47548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75E3E"/>
                </a:solidFill>
              </a:rPr>
              <a:t>CAPA TRES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94944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escalada de nivel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49808" y="1536192"/>
            <a:ext cx="52120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Pasaste de pedir una respuesta a pedir la arquitectura del problema.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822960" y="2944368"/>
            <a:ext cx="3657600" cy="493776"/>
          </a:xfrm>
          <a:prstGeom prst="rect">
            <a:avLst/>
          </a:prstGeom>
          <a:solidFill>
            <a:srgbClr val="FDF9F3"/>
          </a:solidFill>
          <a:ln w="12700">
            <a:solidFill>
              <a:srgbClr val="EADFD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separar palabras de intención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675888"/>
            <a:ext cx="4434840" cy="493776"/>
          </a:xfrm>
          <a:prstGeom prst="rect">
            <a:avLst/>
          </a:prstGeom>
          <a:solidFill>
            <a:srgbClr val="FDF9F3"/>
          </a:solidFill>
          <a:ln w="12700">
            <a:solidFill>
              <a:srgbClr val="EADFD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identificar variables, relaciones y restricciones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407408"/>
            <a:ext cx="4078224" cy="493776"/>
          </a:xfrm>
          <a:prstGeom prst="rect">
            <a:avLst/>
          </a:prstGeom>
          <a:solidFill>
            <a:srgbClr val="FDF9F3"/>
          </a:solidFill>
          <a:ln w="12700">
            <a:solidFill>
              <a:srgbClr val="EADFD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verificar conservación del significado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03720" y="1892808"/>
            <a:ext cx="42976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6F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M* = arg maxₘ Fidelidad(M, I)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211312" y="27706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E66"/>
                </a:solidFill>
              </a:rPr>
              <a:t>sujeto 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95160" y="3090672"/>
            <a:ext cx="36576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75E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Ambigüedad(M) → 0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729984" y="4023360"/>
            <a:ext cx="3474720" cy="1325880"/>
          </a:xfrm>
          <a:prstGeom prst="arc">
            <a:avLst/>
          </a:prstGeom>
          <a:solidFill>
            <a:srgbClr val="F7F1E8">
              <a:alpha val="0"/>
            </a:srgbClr>
          </a:solidFill>
          <a:ln w="13970">
            <a:solidFill>
              <a:srgbClr val="CDBEAE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656832" y="5376672"/>
            <a:ext cx="426110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A5E66"/>
                </a:solidFill>
              </a:rPr>
              <a:t>La fórmula no “profundiza” sola. Profundiza cuando reduce ruido y mejora el juicio.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63550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91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658368" y="6355080"/>
            <a:ext cx="10012680" cy="0"/>
          </a:xfrm>
          <a:prstGeom prst="line">
            <a:avLst/>
          </a:prstGeom>
          <a:noFill/>
          <a:ln w="7620">
            <a:solidFill>
              <a:srgbClr val="CDBEAE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47548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75E3E"/>
                </a:solidFill>
              </a:rPr>
              <a:t>CAPA CUATRO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94944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espejo frente al espejo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49808" y="137160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5E66"/>
                </a:solidFill>
              </a:rPr>
              <a:t>La pregunta era objeto e instrumento de análisis.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121408"/>
            <a:ext cx="5989320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 → I(P) → M(I(P)) → I(M(I(P)))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269480" y="1792224"/>
            <a:ext cx="356616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6F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Rₙ₊₁ = F(Rₙ)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498080" y="4828032"/>
            <a:ext cx="315468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75E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R* = F(R*)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001000" y="2816352"/>
            <a:ext cx="1371600" cy="0"/>
          </a:xfrm>
          <a:prstGeom prst="line">
            <a:avLst/>
          </a:prstGeom>
          <a:noFill/>
          <a:ln w="13970">
            <a:solidFill>
              <a:srgbClr val="CDBEA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89720" y="3794760"/>
            <a:ext cx="-1371600" cy="0"/>
          </a:xfrm>
          <a:prstGeom prst="line">
            <a:avLst/>
          </a:prstGeom>
          <a:noFill/>
          <a:ln w="13970">
            <a:solidFill>
              <a:srgbClr val="CDBEAE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315200" y="2487168"/>
            <a:ext cx="1005840" cy="621792"/>
          </a:xfrm>
          <a:prstGeom prst="rect">
            <a:avLst/>
          </a:prstGeom>
          <a:solidFill>
            <a:srgbClr val="FDF9F3"/>
          </a:solidFill>
          <a:ln w="13970">
            <a:solidFill>
              <a:srgbClr val="CDBEA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Rₙ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759952" y="2487168"/>
            <a:ext cx="822960" cy="621792"/>
          </a:xfrm>
          <a:prstGeom prst="rect">
            <a:avLst/>
          </a:prstGeom>
          <a:solidFill>
            <a:srgbClr val="EFE4D8"/>
          </a:solidFill>
          <a:ln w="13970">
            <a:solidFill>
              <a:srgbClr val="CDBEA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5E3E"/>
                </a:solidFill>
              </a:rPr>
              <a:t>F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875520" y="2487168"/>
            <a:ext cx="1143000" cy="621792"/>
          </a:xfrm>
          <a:prstGeom prst="rect">
            <a:avLst/>
          </a:prstGeom>
          <a:solidFill>
            <a:srgbClr val="FDF9F3"/>
          </a:solidFill>
          <a:ln w="13970">
            <a:solidFill>
              <a:srgbClr val="CDBEA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Rₙ₊₁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 rot="21420000">
            <a:off x="868680" y="3703320"/>
            <a:ext cx="2606040" cy="1554480"/>
          </a:xfrm>
          <a:prstGeom prst="rect">
            <a:avLst/>
          </a:prstGeom>
          <a:solidFill>
            <a:srgbClr val="FFFFFF">
              <a:alpha val="62000"/>
            </a:srgbClr>
          </a:solidFill>
          <a:ln w="16510">
            <a:solidFill>
              <a:srgbClr val="2F6F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80000">
            <a:off x="3858768" y="3703320"/>
            <a:ext cx="2606040" cy="1554480"/>
          </a:xfrm>
          <a:prstGeom prst="rect">
            <a:avLst/>
          </a:prstGeom>
          <a:solidFill>
            <a:srgbClr val="FFFFFF">
              <a:alpha val="62000"/>
            </a:srgbClr>
          </a:solidFill>
          <a:ln w="16510">
            <a:solidFill>
              <a:srgbClr val="B75E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4297680"/>
            <a:ext cx="713232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059936" y="4736592"/>
            <a:ext cx="-694944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207008" y="5486400"/>
            <a:ext cx="49377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A5E66"/>
                </a:solidFill>
              </a:rPr>
              <a:t>Cada representación genera otra representación de la anterior.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63550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91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658368" y="6355080"/>
            <a:ext cx="10012680" cy="0"/>
          </a:xfrm>
          <a:prstGeom prst="line">
            <a:avLst/>
          </a:prstGeom>
          <a:noFill/>
          <a:ln w="7620">
            <a:solidFill>
              <a:srgbClr val="CDBEAE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47548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75E3E"/>
                </a:solidFill>
              </a:rPr>
              <a:t>EVALUACIÓN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94944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test para el modelo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1408176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5E66"/>
                </a:solidFill>
              </a:rPr>
              <a:t>Medía comprensión metacognitiva, no conocimiento matemático.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2148840" cy="1115568"/>
          </a:xfrm>
          <a:prstGeom prst="rect">
            <a:avLst/>
          </a:prstGeom>
          <a:solidFill>
            <a:srgbClr val="FDF9F3"/>
          </a:solidFill>
          <a:ln w="13970">
            <a:solidFill>
              <a:srgbClr val="CDBEA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Primera lectura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7.5 / 10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29000" y="3200400"/>
            <a:ext cx="1554480" cy="0"/>
          </a:xfrm>
          <a:prstGeom prst="line">
            <a:avLst/>
          </a:prstGeom>
          <a:noFill/>
          <a:ln w="17780">
            <a:solidFill>
              <a:srgbClr val="CDBEAE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257800" y="2651760"/>
            <a:ext cx="2331720" cy="1115568"/>
          </a:xfrm>
          <a:prstGeom prst="rect">
            <a:avLst/>
          </a:prstGeom>
          <a:solidFill>
            <a:srgbClr val="EFE4D8"/>
          </a:solidFill>
          <a:ln w="13970">
            <a:solidFill>
              <a:srgbClr val="CDBEA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75E3E"/>
                </a:solidFill>
              </a:rPr>
              <a:t>Tras tu aclaración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B75E3E"/>
                </a:solidFill>
              </a:rPr>
              <a:t>9 / 10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83880" y="2377440"/>
            <a:ext cx="29260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No sería un diez porque el efecto de espejos debía detectarse sin que tú lo nombraras.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2688" y="4892040"/>
            <a:ext cx="102412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6F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Comprensión = semántica + formalización + lectura autorreferencial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63550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91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658368" y="6355080"/>
            <a:ext cx="10012680" cy="0"/>
          </a:xfrm>
          <a:prstGeom prst="line">
            <a:avLst/>
          </a:prstGeom>
          <a:noFill/>
          <a:ln w="7620">
            <a:solidFill>
              <a:srgbClr val="CDBEAE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47548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75E3E"/>
                </a:solidFill>
              </a:rPr>
              <a:t>TESIS FINAL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94944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Conclusión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1444752"/>
            <a:ext cx="101498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corrección formal ≠ comprensión total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057400" y="2743200"/>
            <a:ext cx="8092440" cy="0"/>
          </a:xfrm>
          <a:prstGeom prst="line">
            <a:avLst/>
          </a:prstGeom>
          <a:noFill/>
          <a:ln w="25400">
            <a:solidFill>
              <a:srgbClr val="B75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317296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5A5E66"/>
                </a:solidFill>
              </a:rPr>
              <a:t>Una fórmula puede ser correcta y, aun así, no capturar todavía la intención más profunda.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828800" y="4242816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11827"/>
                </a:solidFill>
              </a:rPr>
              <a:t>Por eso fue un buen test: separó capacidad formal, lectura pragmática y detección autorreferencial.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2011680" y="5532120"/>
            <a:ext cx="1417320" cy="502920"/>
          </a:xfrm>
          <a:prstGeom prst="rect">
            <a:avLst/>
          </a:prstGeom>
          <a:solidFill>
            <a:srgbClr val="FDF9F3"/>
          </a:solidFill>
          <a:ln w="13970">
            <a:solidFill>
              <a:srgbClr val="CDBEA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Lenguaje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95928" y="5532120"/>
            <a:ext cx="1417320" cy="502920"/>
          </a:xfrm>
          <a:prstGeom prst="rect">
            <a:avLst/>
          </a:prstGeom>
          <a:solidFill>
            <a:srgbClr val="FDF9F3"/>
          </a:solidFill>
          <a:ln w="13970">
            <a:solidFill>
              <a:srgbClr val="CDBEA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Contexto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80176" y="5532120"/>
            <a:ext cx="1417320" cy="502920"/>
          </a:xfrm>
          <a:prstGeom prst="rect">
            <a:avLst/>
          </a:prstGeom>
          <a:solidFill>
            <a:srgbClr val="FDF9F3"/>
          </a:solidFill>
          <a:ln w="13970">
            <a:solidFill>
              <a:srgbClr val="CDBEA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Intención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73568" y="5532120"/>
            <a:ext cx="1691640" cy="502920"/>
          </a:xfrm>
          <a:prstGeom prst="rect">
            <a:avLst/>
          </a:prstGeom>
          <a:solidFill>
            <a:srgbClr val="EFE4D8"/>
          </a:solidFill>
          <a:ln w="13970">
            <a:solidFill>
              <a:srgbClr val="CDBEA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5E3E"/>
                </a:solidFill>
              </a:rPr>
              <a:t>Comprensión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29000" y="5779008"/>
            <a:ext cx="557784" cy="0"/>
          </a:xfrm>
          <a:prstGeom prst="line">
            <a:avLst/>
          </a:prstGeom>
          <a:noFill/>
          <a:ln w="11430">
            <a:solidFill>
              <a:srgbClr val="CDBEA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13248" y="5779008"/>
            <a:ext cx="566928" cy="0"/>
          </a:xfrm>
          <a:prstGeom prst="line">
            <a:avLst/>
          </a:prstGeom>
          <a:noFill/>
          <a:ln w="11430">
            <a:solidFill>
              <a:srgbClr val="CDBEA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88352" y="5779008"/>
            <a:ext cx="585216" cy="0"/>
          </a:xfrm>
          <a:prstGeom prst="line">
            <a:avLst/>
          </a:prstGeom>
          <a:noFill/>
          <a:ln w="11430">
            <a:solidFill>
              <a:srgbClr val="CDBEAE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Pregunta espejo frente a espejo</dc:title>
  <dc:subject>Pregunta espejo frente a espejo</dc:subject>
  <dc:creator>OpenAI</dc:creator>
  <cp:lastModifiedBy>OpenAI</cp:lastModifiedBy>
  <cp:revision>1</cp:revision>
  <dcterms:created xsi:type="dcterms:W3CDTF">2026-06-27T15:42:27Z</dcterms:created>
  <dcterms:modified xsi:type="dcterms:W3CDTF">2026-06-27T15:42:27Z</dcterms:modified>
</cp:coreProperties>
</file>